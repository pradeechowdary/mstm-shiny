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15A50-38A9-4C17-B00F-5E96BCCC90C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A33EE-0DA9-491C-88CD-287F99EC8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8F34-5E41-4083-07EE-6022B0C55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195DE-C077-E966-D0F6-56A705249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1FC3D-F01B-1478-2E97-8BADE546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ABA08-DE1A-2608-05D6-8E4379EB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CCE61-95E6-5DBA-82E5-E50D30DC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07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4537-E806-28D4-FB8F-88ECFC75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0866B-3AB3-02F1-2DD2-D8F9202B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C588C-4A03-FAC2-6957-06656CAD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19D31-32E6-7488-0A52-F575C5D8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2608D-4F75-74C4-5E1F-698DCA2B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11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DB38-FEB0-1A17-5BFC-55F633A8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45F47-80E7-EF5E-75A7-C598BBB1D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35DA-BFD6-E46F-3399-40DE6A04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0919B-55A0-04B9-1E27-0176CA9B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95DA-FD5A-81C3-1388-5EB6223E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23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FB781-14A0-58C6-B261-34294CE7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974F6-004D-4F57-BC2C-0FB623AC3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F8-6557-6983-C0E2-2A3406E6F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C9203-A3C5-50F6-3AF5-76741433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19768-BC5E-73A6-EFBD-86B0B447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D8B15-8C71-DBFF-BDF8-9A10674C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6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A03B-07D6-7C7E-1C58-9D829292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B985A-C288-2230-02DE-A9F8E9F10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4A9EE-5813-01CB-FFA5-D63B36437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FE7A01-65E5-DE45-9582-9A8C27242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3F8DFA-C875-CF21-FE8F-17E8916BE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4889C-B7B8-55EE-FD00-E6D50BB2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E7B11-FD73-0B8C-AD4E-D9CD90F9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98EEF-C16A-1EFC-E691-B91A3521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25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8749-08FF-BF25-3E30-834AAFB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ACC18-7FFE-C4E2-06FA-0B1C00D1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DE72E-1D42-EBB3-28DA-600747C5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FB336-B332-B0E0-9ED5-91D5875C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0DFDC-B6B7-BBBF-634F-19E9939C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E3D65-09D2-84F9-2F1E-63A5CD7E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F10EB-C68C-AB0D-1136-211780C2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2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B483-C0DB-2878-FF8B-8F20DAF2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3DC8-720E-3999-5E5F-E1A05BCFB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50154-3939-19DC-DE85-38482E500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1217B-DC39-3BE9-574F-17E2AF65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33B1A-B6FF-FA52-24A7-C703900E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F0A87-7C11-6136-428F-CA857868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BEF0-8D1A-0903-4408-26F4C008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E11C4-A674-25A8-5B02-B49224337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57A9B-907E-40BB-BC09-57826FC22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39330-92D0-C526-31D2-C7285E1E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FA917-C7CC-9FB2-3531-33B5ED69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46458-C602-A7B0-4D96-81774161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69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01B2-8C68-EE1E-E45A-CEBEBF13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A372A-7465-03B1-73F8-BAC85F503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1777-F616-1D27-F783-F392DE8C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3140-3003-C5FB-78C7-07DCEBEB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140E4-3C99-AE79-D7AE-70B890DD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4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2BDD6-577E-3616-865E-97749E92C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C665B-98B3-867A-2D6D-CA6E1F7DC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B0CF0-67AD-2EBE-705D-AD4491AC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0C55-BBFF-B048-0A3C-367D0A7C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FA85F-9D46-2C8E-54D9-34236529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3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B1AB7-DC69-7F80-B251-BF8EF7DD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ADDAE-A848-0EE0-995C-3B69F913F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1ED86-518A-54B6-2F7A-651F5492E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8CB74-02A7-4787-AFEF-60ABB65B4D45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F2136-AB26-7AAC-33A2-E1E503171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6EDA-13E4-2D12-38A6-0F775F313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C836C-EA38-40CC-8125-C058E0FF8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63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WideScreen Power Point Slides2.jpg">
            <a:extLst>
              <a:ext uri="{FF2B5EF4-FFF2-40B4-BE49-F238E27FC236}">
                <a16:creationId xmlns:a16="http://schemas.microsoft.com/office/drawing/2014/main" id="{383CBD0B-1E1F-0ECB-D961-E382692DD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-1504" y="1"/>
            <a:ext cx="12188952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41EC46-D4B9-2892-56EE-EDCAE53554F6}"/>
              </a:ext>
            </a:extLst>
          </p:cNvPr>
          <p:cNvSpPr txBox="1"/>
          <p:nvPr/>
        </p:nvSpPr>
        <p:spPr>
          <a:xfrm>
            <a:off x="313509" y="2717074"/>
            <a:ext cx="7532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>
                    <a:lumMod val="95000"/>
                  </a:schemeClr>
                </a:solidFill>
              </a:rPr>
              <a:t>Maryland Socioeconomic Trends Dashboard (MSTM)</a:t>
            </a:r>
            <a:endParaRPr lang="en-IN" sz="3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16BB327-7AA9-4EC5-815F-9D8E6BC5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3A4FED-1CB1-B003-3709-59EAA32BD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1C21D7-F30A-7AB5-526A-FA3ECB5065B9}"/>
              </a:ext>
            </a:extLst>
          </p:cNvPr>
          <p:cNvSpPr txBox="1"/>
          <p:nvPr/>
        </p:nvSpPr>
        <p:spPr>
          <a:xfrm>
            <a:off x="2298700" y="330200"/>
            <a:ext cx="7848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/>
              <a:t>INTRODUCTION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759D41-EACB-3D08-3C3A-1E0D03C575C6}"/>
              </a:ext>
            </a:extLst>
          </p:cNvPr>
          <p:cNvSpPr txBox="1"/>
          <p:nvPr/>
        </p:nvSpPr>
        <p:spPr>
          <a:xfrm>
            <a:off x="552450" y="1874728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Overview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Developed an interactive </a:t>
            </a:r>
            <a:r>
              <a:rPr lang="en-US" sz="2800" dirty="0" err="1"/>
              <a:t>Flexdashboard</a:t>
            </a:r>
            <a:r>
              <a:rPr lang="en-US" sz="2800" dirty="0"/>
              <a:t> + Shiny dashboard in 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Focuses on Maryland Socioeconomic Trends Model (MSTM)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Visualizes Population, Households, and Employment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Enables year-wise analysis from 2020 to 2050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Designed for regional planning and policy insights</a:t>
            </a:r>
            <a:endParaRPr lang="en-IN" sz="2800" dirty="0"/>
          </a:p>
        </p:txBody>
      </p:sp>
      <p:pic>
        <p:nvPicPr>
          <p:cNvPr id="1026" name="Picture 2" descr="Shiny | Data Visualization Using Shiny App In R">
            <a:extLst>
              <a:ext uri="{FF2B5EF4-FFF2-40B4-BE49-F238E27FC236}">
                <a16:creationId xmlns:a16="http://schemas.microsoft.com/office/drawing/2014/main" id="{CD3DCDFB-9A1F-CDB5-2A1A-95DA77AE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00" y="1439790"/>
            <a:ext cx="1955800" cy="1256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80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22258C-2750-7D7D-2138-2DA30233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7BF122-E6B0-9DCE-3C5B-0A1327B55C9D}"/>
              </a:ext>
            </a:extLst>
          </p:cNvPr>
          <p:cNvSpPr txBox="1"/>
          <p:nvPr/>
        </p:nvSpPr>
        <p:spPr>
          <a:xfrm>
            <a:off x="965200" y="241300"/>
            <a:ext cx="10185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/>
              <a:t>Data and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F7850-92E8-BB50-E3D7-CD09F158EFA9}"/>
              </a:ext>
            </a:extLst>
          </p:cNvPr>
          <p:cNvSpPr txBox="1"/>
          <p:nvPr/>
        </p:nvSpPr>
        <p:spPr>
          <a:xfrm>
            <a:off x="6442696" y="2171560"/>
            <a:ext cx="42742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Year of study: 2020 – 2050</a:t>
            </a:r>
          </a:p>
          <a:p>
            <a:r>
              <a:rPr lang="en-IN" sz="2000" dirty="0"/>
              <a:t>State: Maryland</a:t>
            </a:r>
          </a:p>
          <a:p>
            <a:r>
              <a:rPr lang="en-IN" sz="2000" dirty="0"/>
              <a:t>Focused on: TAZ zones and counties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974E71-05DA-DD88-C1C8-21161DCFBC0A}"/>
              </a:ext>
            </a:extLst>
          </p:cNvPr>
          <p:cNvGrpSpPr/>
          <p:nvPr/>
        </p:nvGrpSpPr>
        <p:grpSpPr>
          <a:xfrm>
            <a:off x="272140" y="3360094"/>
            <a:ext cx="2502177" cy="657552"/>
            <a:chOff x="177772" y="1872238"/>
            <a:chExt cx="2502177" cy="803163"/>
          </a:xfrm>
          <a:scene3d>
            <a:camera prst="orthographicFront"/>
            <a:lightRig rig="flat" dir="t"/>
          </a:scene3d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D0286A-424E-F1A5-920B-674E28004BB5}"/>
                </a:ext>
              </a:extLst>
            </p:cNvPr>
            <p:cNvSpPr/>
            <p:nvPr/>
          </p:nvSpPr>
          <p:spPr>
            <a:xfrm>
              <a:off x="177772" y="1872238"/>
              <a:ext cx="2502177" cy="803163"/>
            </a:xfrm>
            <a:prstGeom prst="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D79FB2-F8A1-6A09-93BE-1044CF2A2261}"/>
                </a:ext>
              </a:extLst>
            </p:cNvPr>
            <p:cNvSpPr txBox="1"/>
            <p:nvPr/>
          </p:nvSpPr>
          <p:spPr>
            <a:xfrm>
              <a:off x="177772" y="1872238"/>
              <a:ext cx="1762097" cy="80316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0" rIns="24130" bIns="0" numCol="1" spcCol="1270" anchor="ctr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dirty="0"/>
                <a:t>Population Attributes</a:t>
              </a:r>
              <a:endParaRPr lang="en-IN" sz="1900" kern="1200" dirty="0"/>
            </a:p>
          </p:txBody>
        </p:sp>
      </p:grp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892762A-144D-0A36-E6D5-114F11A281B7}"/>
              </a:ext>
            </a:extLst>
          </p:cNvPr>
          <p:cNvSpPr/>
          <p:nvPr/>
        </p:nvSpPr>
        <p:spPr>
          <a:xfrm>
            <a:off x="277008" y="1568918"/>
            <a:ext cx="2502177" cy="1768014"/>
          </a:xfrm>
          <a:prstGeom prst="round2SameRect">
            <a:avLst>
              <a:gd name="adj1" fmla="val 8000"/>
              <a:gd name="adj2" fmla="val 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1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Population by year (2020–2050)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Population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Employment-to-Population Ratio</a:t>
            </a:r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691DCE-4E82-511A-E5EF-6B3D5E340F7E}"/>
              </a:ext>
            </a:extLst>
          </p:cNvPr>
          <p:cNvGrpSpPr/>
          <p:nvPr/>
        </p:nvGrpSpPr>
        <p:grpSpPr>
          <a:xfrm>
            <a:off x="2987378" y="3205214"/>
            <a:ext cx="2502177" cy="927765"/>
            <a:chOff x="161872" y="1528870"/>
            <a:chExt cx="2502177" cy="1178940"/>
          </a:xfrm>
          <a:scene3d>
            <a:camera prst="orthographicFront"/>
            <a:lightRig rig="flat" dir="t"/>
          </a:scene3d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6F5A03-3A40-8910-027D-12616365A2F0}"/>
                </a:ext>
              </a:extLst>
            </p:cNvPr>
            <p:cNvSpPr/>
            <p:nvPr/>
          </p:nvSpPr>
          <p:spPr>
            <a:xfrm>
              <a:off x="161872" y="1688336"/>
              <a:ext cx="2502177" cy="803162"/>
            </a:xfrm>
            <a:prstGeom prst="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581C55-7638-F544-4D47-3F37E5E6384B}"/>
                </a:ext>
              </a:extLst>
            </p:cNvPr>
            <p:cNvSpPr txBox="1"/>
            <p:nvPr/>
          </p:nvSpPr>
          <p:spPr>
            <a:xfrm>
              <a:off x="175338" y="1528870"/>
              <a:ext cx="1762097" cy="117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0" rIns="24130" bIns="0" numCol="1" spcCol="1270" anchor="ctr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Household Data</a:t>
              </a:r>
              <a:endParaRPr lang="en-IN" sz="1900" kern="1200" dirty="0"/>
            </a:p>
          </p:txBody>
        </p:sp>
      </p:grp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CE4A3DFC-5C38-F542-DBCC-B61829B4582F}"/>
              </a:ext>
            </a:extLst>
          </p:cNvPr>
          <p:cNvSpPr/>
          <p:nvPr/>
        </p:nvSpPr>
        <p:spPr>
          <a:xfrm>
            <a:off x="2987379" y="1551311"/>
            <a:ext cx="2502177" cy="1748110"/>
          </a:xfrm>
          <a:prstGeom prst="round2SameRect">
            <a:avLst>
              <a:gd name="adj1" fmla="val 8000"/>
              <a:gd name="adj2" fmla="val 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1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Households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Household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Household Density</a:t>
            </a:r>
            <a:endParaRPr lang="en-IN" dirty="0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BCEC961A-ADE1-047B-CF1E-4F81520C9823}"/>
              </a:ext>
            </a:extLst>
          </p:cNvPr>
          <p:cNvSpPr/>
          <p:nvPr/>
        </p:nvSpPr>
        <p:spPr>
          <a:xfrm>
            <a:off x="272140" y="4110552"/>
            <a:ext cx="2502177" cy="1768014"/>
          </a:xfrm>
          <a:prstGeom prst="round2SameRect">
            <a:avLst>
              <a:gd name="adj1" fmla="val 8000"/>
              <a:gd name="adj2" fmla="val 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1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Employment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Employment by Sector (Industrial, Retail, Healthcare, Education, Office, Food, Other)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C0A1698-90D9-4D42-C85A-8390065CB767}"/>
              </a:ext>
            </a:extLst>
          </p:cNvPr>
          <p:cNvGrpSpPr/>
          <p:nvPr/>
        </p:nvGrpSpPr>
        <p:grpSpPr>
          <a:xfrm>
            <a:off x="272139" y="5893096"/>
            <a:ext cx="2502177" cy="657552"/>
            <a:chOff x="177772" y="1872238"/>
            <a:chExt cx="2502177" cy="803163"/>
          </a:xfrm>
          <a:scene3d>
            <a:camera prst="orthographicFront"/>
            <a:lightRig rig="flat" dir="t"/>
          </a:scene3d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F23463C-AF0E-012B-22FF-C5699FAC90F2}"/>
                </a:ext>
              </a:extLst>
            </p:cNvPr>
            <p:cNvSpPr/>
            <p:nvPr/>
          </p:nvSpPr>
          <p:spPr>
            <a:xfrm>
              <a:off x="177772" y="1872238"/>
              <a:ext cx="2502177" cy="803163"/>
            </a:xfrm>
            <a:prstGeom prst="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B2AB3D-40E2-55E6-E5A2-2BB436D9CA63}"/>
                </a:ext>
              </a:extLst>
            </p:cNvPr>
            <p:cNvSpPr txBox="1"/>
            <p:nvPr/>
          </p:nvSpPr>
          <p:spPr>
            <a:xfrm>
              <a:off x="177772" y="1872238"/>
              <a:ext cx="1762097" cy="80316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0" rIns="24130" bIns="0" numCol="1" spcCol="1270" anchor="ctr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Employment Data</a:t>
              </a:r>
              <a:endParaRPr lang="en-IN" sz="19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EFF016-02CC-6D2F-F5B7-67650EA48E22}"/>
              </a:ext>
            </a:extLst>
          </p:cNvPr>
          <p:cNvGrpSpPr/>
          <p:nvPr/>
        </p:nvGrpSpPr>
        <p:grpSpPr>
          <a:xfrm>
            <a:off x="2987378" y="5893096"/>
            <a:ext cx="2502177" cy="657552"/>
            <a:chOff x="177772" y="1872238"/>
            <a:chExt cx="2502177" cy="803163"/>
          </a:xfrm>
          <a:scene3d>
            <a:camera prst="orthographicFront"/>
            <a:lightRig rig="flat" dir="t"/>
          </a:scene3d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8161E1-808C-AB37-EE9C-EB2265AB7FE6}"/>
                </a:ext>
              </a:extLst>
            </p:cNvPr>
            <p:cNvSpPr/>
            <p:nvPr/>
          </p:nvSpPr>
          <p:spPr>
            <a:xfrm>
              <a:off x="177772" y="1872238"/>
              <a:ext cx="2502177" cy="803163"/>
            </a:xfrm>
            <a:prstGeom prst="rect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BC86A8-60EC-CB95-7411-DC1838C2701B}"/>
                </a:ext>
              </a:extLst>
            </p:cNvPr>
            <p:cNvSpPr txBox="1"/>
            <p:nvPr/>
          </p:nvSpPr>
          <p:spPr>
            <a:xfrm>
              <a:off x="177772" y="1872238"/>
              <a:ext cx="1762097" cy="80316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0" rIns="24130" bIns="0" numCol="1" spcCol="1270" anchor="ctr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Derived Indicators</a:t>
              </a:r>
              <a:endParaRPr lang="en-IN" sz="1900" kern="1200" dirty="0"/>
            </a:p>
          </p:txBody>
        </p:sp>
      </p:grp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110A8696-49AE-73B1-921F-BA3D7FE12752}"/>
              </a:ext>
            </a:extLst>
          </p:cNvPr>
          <p:cNvSpPr/>
          <p:nvPr/>
        </p:nvSpPr>
        <p:spPr>
          <a:xfrm>
            <a:off x="2995975" y="4129031"/>
            <a:ext cx="2502177" cy="1768014"/>
          </a:xfrm>
          <a:prstGeom prst="round2SameRect">
            <a:avLst>
              <a:gd name="adj1" fmla="val 8000"/>
              <a:gd name="adj2" fmla="val 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1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Employment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Population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Avg. HH per km²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 to Pop ratio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43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7BEBE8-D900-88F7-4139-D36A52009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6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B54B36-71BE-D55D-6DAB-54715148E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95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0DB658-355C-16D6-655E-425CEAE08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06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128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Ponnam (pponnam)</dc:creator>
  <cp:lastModifiedBy>Pradeep Ponnam (pponnam)</cp:lastModifiedBy>
  <cp:revision>1</cp:revision>
  <dcterms:created xsi:type="dcterms:W3CDTF">2025-11-09T04:40:24Z</dcterms:created>
  <dcterms:modified xsi:type="dcterms:W3CDTF">2025-11-09T05:30:35Z</dcterms:modified>
</cp:coreProperties>
</file>